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2" r:id="rId9"/>
    <p:sldId id="280" r:id="rId10"/>
    <p:sldId id="263" r:id="rId11"/>
    <p:sldId id="281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DD4C66-138B-4B10-81AF-FB3AFF0373DD}" v="196" dt="2026-03-16T21:00:54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27633-CE19-4A02-B4BB-A1359B5EBA4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EA8D-ACE9-4126-89F8-9DDEC5F98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10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EA8D-ACE9-4126-89F8-9DDEC5F98E8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567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1DAD-5585-4B57-A45D-39C996FBB3A8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821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2514-3780-4545-94E8-25760A098F71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9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25AF5-BA62-438B-93FC-99CD25CDB389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20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C6F0-E1FF-42F0-8F4E-A2FB81DE087F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04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00E8-473C-433C-BA28-CEFA416607CD}" type="datetime1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1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7D73-871B-4A89-960A-9559D3B76807}" type="datetime1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1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B7574-7B30-4861-B8EF-20C3B189796A}" type="datetime1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0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ED34-277E-4F4C-AA88-AF020747EC1C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79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B900-0D35-42DD-BB68-D67FC66D1FCD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95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9960-9744-4681-A66F-4C880246D53A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0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7E75-0B35-4FAA-93DA-0090DBBE71FE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DFDC829B-5071-46AE-8B22-6701AB90EBCD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09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84835E-B349-EBE9-CB0F-169B179B92C2}"/>
              </a:ext>
            </a:extLst>
          </p:cNvPr>
          <p:cNvSpPr txBox="1"/>
          <p:nvPr/>
        </p:nvSpPr>
        <p:spPr>
          <a:xfrm>
            <a:off x="353961" y="127819"/>
            <a:ext cx="11277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ON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F458A-486D-B8D6-E43A-47708E44595A}"/>
              </a:ext>
            </a:extLst>
          </p:cNvPr>
          <p:cNvSpPr txBox="1"/>
          <p:nvPr/>
        </p:nvSpPr>
        <p:spPr>
          <a:xfrm>
            <a:off x="265471" y="635650"/>
            <a:ext cx="1127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 AND HEALTH MONITORING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6551D-E779-804E-EC6D-E762262B364B}"/>
              </a:ext>
            </a:extLst>
          </p:cNvPr>
          <p:cNvSpPr txBox="1"/>
          <p:nvPr/>
        </p:nvSpPr>
        <p:spPr>
          <a:xfrm>
            <a:off x="825910" y="1219200"/>
            <a:ext cx="105598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9944A9-534C-FDF4-F8A4-46828A723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04109"/>
            <a:ext cx="2358736" cy="1922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1B6FF6-4693-7F90-74D8-70015B8336E5}"/>
              </a:ext>
            </a:extLst>
          </p:cNvPr>
          <p:cNvSpPr txBox="1"/>
          <p:nvPr/>
        </p:nvSpPr>
        <p:spPr>
          <a:xfrm>
            <a:off x="735073" y="3758743"/>
            <a:ext cx="105598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COLLEGE OF ENGINEERING KALAHANDI, BHAWANIPATNA -766002 </a:t>
            </a:r>
          </a:p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42EF61-9849-E758-FC43-688C4ADB8708}"/>
              </a:ext>
            </a:extLst>
          </p:cNvPr>
          <p:cNvSpPr txBox="1"/>
          <p:nvPr/>
        </p:nvSpPr>
        <p:spPr>
          <a:xfrm>
            <a:off x="897082" y="4435851"/>
            <a:ext cx="4714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n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endParaRPr lang="en-US" b="1" dirty="0">
              <a:ln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n/>
                <a:latin typeface="Times New Roman" panose="02020603050405020304" pitchFamily="18" charset="0"/>
                <a:cs typeface="Times New Roman" panose="02020603050405020304" pitchFamily="18" charset="0"/>
              </a:rPr>
              <a:t>SWASTIK SIDHARTH RATH (2201110097)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534803-B69C-2DC6-1BDF-F7AF176A5C2C}"/>
              </a:ext>
            </a:extLst>
          </p:cNvPr>
          <p:cNvSpPr txBox="1"/>
          <p:nvPr/>
        </p:nvSpPr>
        <p:spPr>
          <a:xfrm>
            <a:off x="6847609" y="4400144"/>
            <a:ext cx="4613565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 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DR. D. P. ACHARYA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(DEPT. OF ECE, NIT ROURKELA)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58FE97-3883-EFB1-4163-26652A1B2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100149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C8A497-DD80-081C-B5B6-4B310AED9245}"/>
              </a:ext>
            </a:extLst>
          </p:cNvPr>
          <p:cNvSpPr txBox="1"/>
          <p:nvPr/>
        </p:nvSpPr>
        <p:spPr>
          <a:xfrm>
            <a:off x="270164" y="68826"/>
            <a:ext cx="5825836" cy="588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2EFDA5-F8F7-B15D-A329-0F63EA03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</a:t>
            </a:fld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407F9D-ED42-C504-0E78-86F4F5D63EFE}"/>
              </a:ext>
            </a:extLst>
          </p:cNvPr>
          <p:cNvSpPr txBox="1"/>
          <p:nvPr/>
        </p:nvSpPr>
        <p:spPr>
          <a:xfrm>
            <a:off x="403123" y="894735"/>
            <a:ext cx="4011561" cy="420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ARCHITECTURE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PCB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GATEWAY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SYSTEM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TRANSMISSION FORMAT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81C794-0B55-FD8D-8AC9-54A6C42DE4D1}"/>
              </a:ext>
            </a:extLst>
          </p:cNvPr>
          <p:cNvSpPr txBox="1"/>
          <p:nvPr/>
        </p:nvSpPr>
        <p:spPr>
          <a:xfrm>
            <a:off x="6826827" y="894735"/>
            <a:ext cx="40968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ARCHITECTURE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DASHBOARD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MONITORING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942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DB8E6C-A570-5117-4EAA-755CDA029295}"/>
              </a:ext>
            </a:extLst>
          </p:cNvPr>
          <p:cNvSpPr txBox="1"/>
          <p:nvPr/>
        </p:nvSpPr>
        <p:spPr>
          <a:xfrm>
            <a:off x="384463" y="176645"/>
            <a:ext cx="4042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0FB0E-2C83-6DEC-DEB3-09076E626236}"/>
              </a:ext>
            </a:extLst>
          </p:cNvPr>
          <p:cNvSpPr txBox="1"/>
          <p:nvPr/>
        </p:nvSpPr>
        <p:spPr>
          <a:xfrm>
            <a:off x="384463" y="872836"/>
            <a:ext cx="10525993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hazards and basic health 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 time.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measure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concentration levels, vital signs (such as heart rate and SpO2), and worker 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is transmitted through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to a cloud platform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cloud system analyzes and displays the information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and quick 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improve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safety, health monitoring, and emergency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A509B4-C456-14D0-CDF2-15AC4613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3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3583473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9F4F1D-AFBE-B611-5DBF-12DF8ACD4BE9}"/>
              </a:ext>
            </a:extLst>
          </p:cNvPr>
          <p:cNvSpPr txBox="1"/>
          <p:nvPr/>
        </p:nvSpPr>
        <p:spPr>
          <a:xfrm>
            <a:off x="332509" y="186814"/>
            <a:ext cx="5006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EBBF72-8433-F9B7-D683-6B0D6F1CAF37}"/>
              </a:ext>
            </a:extLst>
          </p:cNvPr>
          <p:cNvSpPr txBox="1"/>
          <p:nvPr/>
        </p:nvSpPr>
        <p:spPr>
          <a:xfrm>
            <a:off x="332509" y="884903"/>
            <a:ext cx="11387543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areas, mines, and hazardous workplaces often contain dangerous gases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Monoxide (CO)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(CO₂)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to these gases can seriously affect worker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and safety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methods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and require manual checking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 can lead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accidents and health risks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automated monitoring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needed to detect harmful gases and alert workers immediately.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8E69F-404A-3552-62CF-EC2D1321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4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731283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0CC9FE-38BB-3CAD-9EC1-B720630C9394}"/>
              </a:ext>
            </a:extLst>
          </p:cNvPr>
          <p:cNvSpPr txBox="1"/>
          <p:nvPr/>
        </p:nvSpPr>
        <p:spPr>
          <a:xfrm>
            <a:off x="294968" y="147484"/>
            <a:ext cx="4778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69CF10-6A15-B218-C19F-4E8393478F09}"/>
              </a:ext>
            </a:extLst>
          </p:cNvPr>
          <p:cNvSpPr txBox="1"/>
          <p:nvPr/>
        </p:nvSpPr>
        <p:spPr>
          <a:xfrm>
            <a:off x="294969" y="816077"/>
            <a:ext cx="11415586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an IoT-based monitoring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detect harmful environmental gases such as CO and CO₂ along with basic health parameters of workers in real time.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transmit sensor data continuously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IoT devices to a remote server or cloud platform for storage, processing, and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data visualization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 web-based dashboard so that supervisors can easily monitor environmental conditions and worker safety.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centralized monitoring and alert mechanisms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quickly detect hazardous situations and improve workplace safety management.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EBF2D4-171E-FE05-CAAB-06AE971F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5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528519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CF08A8-78E3-6976-FDE1-07751CA466BB}"/>
              </a:ext>
            </a:extLst>
          </p:cNvPr>
          <p:cNvSpPr txBox="1"/>
          <p:nvPr/>
        </p:nvSpPr>
        <p:spPr>
          <a:xfrm>
            <a:off x="285135" y="206477"/>
            <a:ext cx="6508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ARCHITECTURE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22722C-C3E6-51A8-7A36-A826AD376CE4}"/>
              </a:ext>
            </a:extLst>
          </p:cNvPr>
          <p:cNvSpPr txBox="1"/>
          <p:nvPr/>
        </p:nvSpPr>
        <p:spPr>
          <a:xfrm>
            <a:off x="285135" y="955964"/>
            <a:ext cx="11512010" cy="420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Embedded PCB: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specially designed printed circuit board that integrates all hardware components of the system.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Mega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collects data from sensors and transmits to Raspberry Pi.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5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main controller on the PCB that processes data received from sensors and send to backend.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SIMCom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Module: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wireless communication and transmits collected data to the remote server or cloud platform.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Circuits &amp; Power Regulation: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Controls connected devices and ensures stable voltage supply to all components.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Interface Connectors: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Ports used to connect gas sensors, health sensors, and other monitoring devices.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413D97-B173-DC7D-279D-AE69E3ECA3AD}"/>
              </a:ext>
            </a:extLst>
          </p:cNvPr>
          <p:cNvSpPr txBox="1"/>
          <p:nvPr/>
        </p:nvSpPr>
        <p:spPr>
          <a:xfrm>
            <a:off x="394855" y="4104410"/>
            <a:ext cx="11402290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PCB gathers signals from multiple sensors, processes the data through the microcontroller, and sends the information to the server using the communication module for real-time monitoring.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25ED82-6B17-87BF-0698-E0B534A7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6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412020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32E64E-862C-6758-97E0-0C8BF836B1B0}"/>
              </a:ext>
            </a:extLst>
          </p:cNvPr>
          <p:cNvSpPr txBox="1"/>
          <p:nvPr/>
        </p:nvSpPr>
        <p:spPr>
          <a:xfrm>
            <a:off x="3313470" y="6302477"/>
            <a:ext cx="566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– 1. HARDWARE 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4F23C1-6C2D-5C27-6949-058FE616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7</a:t>
            </a:fld>
            <a:endParaRPr lang="en-US" sz="2400" b="1" dirty="0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1E9D0765-498D-B144-247D-94102EF647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426721-F347-81D9-8E59-AFBD1F8D1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636" y="186191"/>
            <a:ext cx="8033527" cy="602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5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D8716D9-CC02-5276-3F26-AD3DB2908B3F}"/>
              </a:ext>
            </a:extLst>
          </p:cNvPr>
          <p:cNvSpPr txBox="1"/>
          <p:nvPr/>
        </p:nvSpPr>
        <p:spPr>
          <a:xfrm>
            <a:off x="311727" y="145474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34B87A-CD84-02DD-58D4-2E6E6B50473D}"/>
              </a:ext>
            </a:extLst>
          </p:cNvPr>
          <p:cNvSpPr txBox="1"/>
          <p:nvPr/>
        </p:nvSpPr>
        <p:spPr>
          <a:xfrm>
            <a:off x="228601" y="633845"/>
            <a:ext cx="11550444" cy="6275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Monoxide (CO) Sensors – 2 Units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measure the concentration of carbon monoxide gas in parts per million (ppm) to identify toxic gas exposure.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(CO₂) Sensor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carbon dioxide levels in the environment to assess air quality and ventilation conditions.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surrounding environmental temperature for safety monitoring.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Altitude Sensor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elevation or atmospheric pressure–based altitude to monitor environmental conditions.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Sensor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heart rate of the user in beats per minute (BPM) for basic health monitoring.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SpO₂ Sensor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blood oxygen saturation level to evaluate respiratory health.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geographic location coordinates for tracking and emergency response.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E42F4E-D5AE-9B82-D3D3-E4F8C71E5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8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56791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1CA6C-2C5F-E3B9-E13A-8E63075E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05FE12-73AA-3E01-7301-FAD48A218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9" y="816301"/>
            <a:ext cx="4660490" cy="34953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242F0D-F19A-891C-BF49-4E3A2BF51C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089" y="816301"/>
            <a:ext cx="4660491" cy="34953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2C02CE9-C2CB-84D3-6EC6-C2CB5523236E}"/>
              </a:ext>
            </a:extLst>
          </p:cNvPr>
          <p:cNvSpPr txBox="1"/>
          <p:nvPr/>
        </p:nvSpPr>
        <p:spPr>
          <a:xfrm>
            <a:off x="7558434" y="4394931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-3. CO SENSOR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7DF523-8E7C-069A-237B-690EC1CA5281}"/>
              </a:ext>
            </a:extLst>
          </p:cNvPr>
          <p:cNvSpPr txBox="1"/>
          <p:nvPr/>
        </p:nvSpPr>
        <p:spPr>
          <a:xfrm>
            <a:off x="2234045" y="4394931"/>
            <a:ext cx="2532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-2. CO2 SENSOR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479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23D570-AEC8-5882-1E04-34FC67E390EC}"/>
              </a:ext>
            </a:extLst>
          </p:cNvPr>
          <p:cNvSpPr txBox="1"/>
          <p:nvPr/>
        </p:nvSpPr>
        <p:spPr>
          <a:xfrm>
            <a:off x="249382" y="187037"/>
            <a:ext cx="4977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PCB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248A34-8794-363C-8BDE-B90CA7AADDDE}"/>
              </a:ext>
            </a:extLst>
          </p:cNvPr>
          <p:cNvSpPr txBox="1"/>
          <p:nvPr/>
        </p:nvSpPr>
        <p:spPr>
          <a:xfrm>
            <a:off x="249382" y="904009"/>
            <a:ext cx="11568992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custom-designed Printed Circuit Board (PCB)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developed to integrate all system components into a single compact board.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interface circuits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regulation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output circuits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module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PCB allows easy connection of different sensors used for environmental and health monitoring.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power distribution and reliable signal transmission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components.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board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sensor data and sends it to the gateway or cloud system for monitoring and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B3A8C8-17F3-6D48-53E2-FAAF7E0C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10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2225729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7921A-F526-6E22-6E33-65F006836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36DB07-044A-5EF9-12D1-FE84EEE8F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399" y="157445"/>
            <a:ext cx="7824356" cy="6025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54A698-9E7E-C36F-644E-E7709C9D2D09}"/>
              </a:ext>
            </a:extLst>
          </p:cNvPr>
          <p:cNvSpPr txBox="1"/>
          <p:nvPr/>
        </p:nvSpPr>
        <p:spPr>
          <a:xfrm>
            <a:off x="3313470" y="6302477"/>
            <a:ext cx="566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– 4. MOTHER 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EF9F9B-FD89-C3BA-4202-59865113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11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28119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7EECC9-A79B-6CF9-7823-49F17B8DA891}"/>
              </a:ext>
            </a:extLst>
          </p:cNvPr>
          <p:cNvSpPr txBox="1"/>
          <p:nvPr/>
        </p:nvSpPr>
        <p:spPr>
          <a:xfrm>
            <a:off x="304801" y="157317"/>
            <a:ext cx="4355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GATEWAY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08767-C7EE-06DF-1CEC-2CD3612A4D3D}"/>
              </a:ext>
            </a:extLst>
          </p:cNvPr>
          <p:cNvSpPr txBox="1"/>
          <p:nvPr/>
        </p:nvSpPr>
        <p:spPr>
          <a:xfrm>
            <a:off x="304801" y="831273"/>
            <a:ext cx="11499271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gateway device used in the system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acts as the central communication unit.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sensor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custom embedded PCB and connected sensors.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device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and formats the collected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sending it further.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transmits the data to the backend/cloud server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internet connectivity.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between the hardware system and cloud services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real-time monitoring and data management.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60D6A6-B6A8-E8FB-C816-AC9A46B6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12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36456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AC2B78-2424-1369-831B-0F3E7F32E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590" y="1083317"/>
            <a:ext cx="3633355" cy="2725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74FBB-95CF-46B6-5504-285A4E640871}"/>
              </a:ext>
            </a:extLst>
          </p:cNvPr>
          <p:cNvSpPr txBox="1"/>
          <p:nvPr/>
        </p:nvSpPr>
        <p:spPr>
          <a:xfrm>
            <a:off x="228600" y="186812"/>
            <a:ext cx="89154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DISPLAY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8150F-C0D9-86DE-B017-4333170FFF95}"/>
              </a:ext>
            </a:extLst>
          </p:cNvPr>
          <p:cNvSpPr txBox="1"/>
          <p:nvPr/>
        </p:nvSpPr>
        <p:spPr>
          <a:xfrm>
            <a:off x="311727" y="904568"/>
            <a:ext cx="7775863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capacitive touch display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DWIN Technologies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connected to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Foundation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Raspberry Pi device.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display runs a web browser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kiosk mode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automatically open the monitoring dashboard.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is displayed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without user interaction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visualization of environmental and health 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system status directly at the device 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6E6535-6606-576E-4BBA-924472681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13</a:t>
            </a:fld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E278D7-84A8-988F-DCD7-093FFC758978}"/>
              </a:ext>
            </a:extLst>
          </p:cNvPr>
          <p:cNvSpPr txBox="1"/>
          <p:nvPr/>
        </p:nvSpPr>
        <p:spPr>
          <a:xfrm>
            <a:off x="8418367" y="3987082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-5. DISPLAY UNIT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886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4059EC-497A-12B4-6603-7F1FAEDCE162}"/>
              </a:ext>
            </a:extLst>
          </p:cNvPr>
          <p:cNvSpPr txBox="1"/>
          <p:nvPr/>
        </p:nvSpPr>
        <p:spPr>
          <a:xfrm>
            <a:off x="245807" y="167148"/>
            <a:ext cx="5850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B0C61-B233-FCA6-6973-1743D2344506}"/>
              </a:ext>
            </a:extLst>
          </p:cNvPr>
          <p:cNvSpPr txBox="1"/>
          <p:nvPr/>
        </p:nvSpPr>
        <p:spPr>
          <a:xfrm>
            <a:off x="332509" y="875071"/>
            <a:ext cx="11443855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continuously collect environmental and health parameters such as gas levels, temperature, and vital signs.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PCB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receives signals from all connected sensors and provides proper interfacing.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reads the sensor data and converts it into structured digital information.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data is then transmitted to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gateway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Raspberry Pi processes the received data and sends it to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backend server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internet connectivity.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server stores the incoming data in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monitoring and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retrieves the stored data and displays the sensor values in real time, enabling continuous system monitoring.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8411A0-F342-F20D-21DA-7590FE62A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14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96280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203B8A-E180-4AE8-B873-843ECC583E62}"/>
              </a:ext>
            </a:extLst>
          </p:cNvPr>
          <p:cNvSpPr txBox="1"/>
          <p:nvPr/>
        </p:nvSpPr>
        <p:spPr>
          <a:xfrm>
            <a:off x="344129" y="176982"/>
            <a:ext cx="7216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TRANSMISSION FORMAT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9456E2-0798-90E7-326B-6820BAF6086A}"/>
              </a:ext>
            </a:extLst>
          </p:cNvPr>
          <p:cNvSpPr txBox="1"/>
          <p:nvPr/>
        </p:nvSpPr>
        <p:spPr>
          <a:xfrm>
            <a:off x="344130" y="966355"/>
            <a:ext cx="7989379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readings are transmitted to the server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(JavaScript Object Notation) format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JSON structure contains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identification and multiple sensor 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data packet includes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data (temperature, CO, CO₂, altitude)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data (pulse rate, SpO₂)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coordinates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latitude, longitude and altitude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also included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tracking and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E0F07A-349F-83F0-C168-F5544467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sz="2400" dirty="0"/>
          </a:p>
          <a:p>
            <a:r>
              <a:rPr lang="en-US" sz="2400" b="1" dirty="0"/>
              <a:t>13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8E078D-DD76-24BE-C7EA-599CB4B8D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126" y="867307"/>
            <a:ext cx="3237978" cy="3771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E112C2-4505-6CCC-56FF-E97BAD2B27F2}"/>
              </a:ext>
            </a:extLst>
          </p:cNvPr>
          <p:cNvSpPr txBox="1"/>
          <p:nvPr/>
        </p:nvSpPr>
        <p:spPr>
          <a:xfrm>
            <a:off x="8865215" y="4789785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-6. DATA FORMAT (JSON)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284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1676D0-DB6A-279E-EC4F-53C0582F9654}"/>
              </a:ext>
            </a:extLst>
          </p:cNvPr>
          <p:cNvSpPr txBox="1"/>
          <p:nvPr/>
        </p:nvSpPr>
        <p:spPr>
          <a:xfrm>
            <a:off x="249382" y="176645"/>
            <a:ext cx="594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487D8-8CDB-BBB7-D9C2-908F8B0A03BE}"/>
              </a:ext>
            </a:extLst>
          </p:cNvPr>
          <p:cNvSpPr txBox="1"/>
          <p:nvPr/>
        </p:nvSpPr>
        <p:spPr>
          <a:xfrm>
            <a:off x="384464" y="924791"/>
            <a:ext cx="11381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system is developed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to handle communication between the IoT gateway and the dashboard.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2DEE40-EBBB-645C-FFB9-F4D7B3DA63E7}"/>
              </a:ext>
            </a:extLst>
          </p:cNvPr>
          <p:cNvSpPr txBox="1"/>
          <p:nvPr/>
        </p:nvSpPr>
        <p:spPr>
          <a:xfrm>
            <a:off x="384464" y="1828799"/>
            <a:ext cx="9092045" cy="2123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 of the Backend: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sensor data from the IoT gateway device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and validate the incoming data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processed data in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REST APIs for the frontend dashboard to retrieve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A0E6DE-2050-61EB-11DB-F2E86809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16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184588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2756A3-24A8-17EE-ED2E-FFBC92E8F71E}"/>
              </a:ext>
            </a:extLst>
          </p:cNvPr>
          <p:cNvSpPr txBox="1"/>
          <p:nvPr/>
        </p:nvSpPr>
        <p:spPr>
          <a:xfrm>
            <a:off x="342900" y="862445"/>
            <a:ext cx="113364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as the primary NoSQL database for storing system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details, sensor readings, user authentication information, and location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handle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real-time data from multiple IoT devices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sensor entry includes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timestamp, device ID, environmental gas levels, and health 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organized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collections such as Users, Devices, Sensor Data, and Locations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data retrieval for the web dashboard and monitoring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storage for large volumes of IoT sensor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data can be used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monitoring, historical analysis, and safety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ED9130-8C94-C3D6-60CD-5C0A4C0859DE}"/>
              </a:ext>
            </a:extLst>
          </p:cNvPr>
          <p:cNvSpPr txBox="1"/>
          <p:nvPr/>
        </p:nvSpPr>
        <p:spPr>
          <a:xfrm>
            <a:off x="342900" y="176645"/>
            <a:ext cx="5860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91FADF-82D9-B12A-CD81-92F68B43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17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14207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161FBE3-BC5D-3775-77E1-F5554E3D339F}"/>
              </a:ext>
            </a:extLst>
          </p:cNvPr>
          <p:cNvSpPr txBox="1"/>
          <p:nvPr/>
        </p:nvSpPr>
        <p:spPr>
          <a:xfrm>
            <a:off x="322119" y="176645"/>
            <a:ext cx="5773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9FA3B6-A1DF-A29F-F809-B8D8AEF4EA5A}"/>
              </a:ext>
            </a:extLst>
          </p:cNvPr>
          <p:cNvSpPr txBox="1"/>
          <p:nvPr/>
        </p:nvSpPr>
        <p:spPr>
          <a:xfrm>
            <a:off x="322119" y="841664"/>
            <a:ext cx="11336481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Stack (MongoDB, Express.js, React.js, Node.js)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 scalable and responsive web interface.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sensor data and device status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users to continuously monitor environmental gases and health parameters.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visualization of sensor readings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gas levels, temperature, and health metrics for better understanding of system conditions.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room-based monitoring and alert notifications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quick detection of hazardous situations and improving safety management.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9BA422-70ED-49E1-502F-E7BD1788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18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795733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A0A263-DAD8-2B27-DE0E-B1F46805B76F}"/>
              </a:ext>
            </a:extLst>
          </p:cNvPr>
          <p:cNvSpPr txBox="1"/>
          <p:nvPr/>
        </p:nvSpPr>
        <p:spPr>
          <a:xfrm>
            <a:off x="322118" y="187036"/>
            <a:ext cx="6422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92494-94F9-86CE-C497-A5916301900F}"/>
              </a:ext>
            </a:extLst>
          </p:cNvPr>
          <p:cNvSpPr txBox="1"/>
          <p:nvPr/>
        </p:nvSpPr>
        <p:spPr>
          <a:xfrm>
            <a:off x="322119" y="865239"/>
            <a:ext cx="6899563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of environmental 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Carbon Monoxide (CO), Carbon Dioxide (CO₂), smoke levels, and fire detection.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parameters including pulse rate and SpO₂ levels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the physical condition of individuals in hazardous environments.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system data such as altitude and room-based monitoring status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location-based safety tracking.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alerts and response indicators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quickly notify users when dangerous conditions are detected.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9D3814-619D-5ADF-DA73-8E322837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19</a:t>
            </a:fld>
            <a:endParaRPr lang="en-US" sz="2400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20BDB3-4A07-9965-BCCC-A2906990B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5928" y="960154"/>
            <a:ext cx="4624463" cy="31962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70E4EB-0ECE-D65B-0AE4-4030551D7083}"/>
              </a:ext>
            </a:extLst>
          </p:cNvPr>
          <p:cNvSpPr txBox="1"/>
          <p:nvPr/>
        </p:nvSpPr>
        <p:spPr>
          <a:xfrm>
            <a:off x="8172259" y="4249458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-7.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135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42A16D-FE74-DA75-C44C-73FD789AE0C5}"/>
              </a:ext>
            </a:extLst>
          </p:cNvPr>
          <p:cNvSpPr txBox="1"/>
          <p:nvPr/>
        </p:nvSpPr>
        <p:spPr>
          <a:xfrm>
            <a:off x="314632" y="196645"/>
            <a:ext cx="5869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0AE93-0730-F917-3125-CFBA385A937E}"/>
              </a:ext>
            </a:extLst>
          </p:cNvPr>
          <p:cNvSpPr txBox="1"/>
          <p:nvPr/>
        </p:nvSpPr>
        <p:spPr>
          <a:xfrm>
            <a:off x="314631" y="943897"/>
            <a:ext cx="11427095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dashboard is deployed 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fast global access and reliable web hosting.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application runs on a VPS server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 Node.js and Express.js API processes incoming IoT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VPS also hosts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stores sensor readings, device information, and user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 is used as a process manager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keep the backend services running continuously and automatically restart them if failures occur.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2E9A2-8208-3524-A719-54CCA8A3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20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81063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3111E2-E937-58AE-1B24-12949FCCB276}"/>
              </a:ext>
            </a:extLst>
          </p:cNvPr>
          <p:cNvSpPr txBox="1"/>
          <p:nvPr/>
        </p:nvSpPr>
        <p:spPr>
          <a:xfrm>
            <a:off x="259773" y="280555"/>
            <a:ext cx="55904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82F78-514E-DC78-F53F-35C36B0E4873}"/>
              </a:ext>
            </a:extLst>
          </p:cNvPr>
          <p:cNvSpPr txBox="1"/>
          <p:nvPr/>
        </p:nvSpPr>
        <p:spPr>
          <a:xfrm>
            <a:off x="332509" y="966355"/>
            <a:ext cx="11274136" cy="2123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continuously collects and transmits sensor data to the cloud server in real time.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displays live readings of environmental gases and health parameters.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conditions are categorized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sensor thresholds.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 and indicators help users quickly detect and respond to hazardous situations.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BD29AF-28D9-75CD-A78D-50E6BAEB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21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152010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7C4CE6-2049-4DDA-E37A-5DB8B21FA091}"/>
              </a:ext>
            </a:extLst>
          </p:cNvPr>
          <p:cNvSpPr txBox="1"/>
          <p:nvPr/>
        </p:nvSpPr>
        <p:spPr>
          <a:xfrm>
            <a:off x="353961" y="147485"/>
            <a:ext cx="6292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D80A5-9D38-DA71-5BE4-3BF0D5168BB0}"/>
              </a:ext>
            </a:extLst>
          </p:cNvPr>
          <p:cNvSpPr txBox="1"/>
          <p:nvPr/>
        </p:nvSpPr>
        <p:spPr>
          <a:xfrm>
            <a:off x="353961" y="852055"/>
            <a:ext cx="11294248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Safety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harmful gases and environmental hazards in factories to protect workers.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Mine Safety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Monitors gas levels, worker health, and location in underground mines.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Patient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Tracks vital signs like pulse rate and SpO₂ for continuous patient observation.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air quality parameters such as CO and CO₂ in different environments.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Building Safety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smoke, fire, and unsafe conditions in buildings for early warning and safety alerts.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435B8B-1F01-7147-15AF-7159AAC6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22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72086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28B371-06AD-6AA4-DD07-66A65CF129AC}"/>
              </a:ext>
            </a:extLst>
          </p:cNvPr>
          <p:cNvSpPr txBox="1"/>
          <p:nvPr/>
        </p:nvSpPr>
        <p:spPr>
          <a:xfrm>
            <a:off x="342900" y="166255"/>
            <a:ext cx="6089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DA637-A65D-692A-0CE5-85043349B6F1}"/>
              </a:ext>
            </a:extLst>
          </p:cNvPr>
          <p:cNvSpPr txBox="1"/>
          <p:nvPr/>
        </p:nvSpPr>
        <p:spPr>
          <a:xfrm>
            <a:off x="342899" y="883227"/>
            <a:ext cx="11232573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Continuously tracks environmental and health parameters with instant updates.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Accessibility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can be monitored from anywhere through a web dashboard.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Safety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 sensor data is collected and managed in a single system.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IoT Architecture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cost-effective hardware and cloud technologies.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 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Additional sensors and devices can be easily integrated into the system.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491F83-A87B-A9B6-260F-B686EC66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23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93813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69205B-4021-53AE-33CC-F126A594D139}"/>
              </a:ext>
            </a:extLst>
          </p:cNvPr>
          <p:cNvSpPr txBox="1"/>
          <p:nvPr/>
        </p:nvSpPr>
        <p:spPr>
          <a:xfrm>
            <a:off x="290945" y="228600"/>
            <a:ext cx="5805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EB725-4E60-6A05-64E2-008D428E74EB}"/>
              </a:ext>
            </a:extLst>
          </p:cNvPr>
          <p:cNvSpPr txBox="1"/>
          <p:nvPr/>
        </p:nvSpPr>
        <p:spPr>
          <a:xfrm>
            <a:off x="290945" y="924791"/>
            <a:ext cx="11211791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Integration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 a mobile app for real-time monitoring and alerts.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Anomaly Detection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AI to automatically detect abnormal sensor patterns and predict hazards.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Health Monitoring Sensors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Integrate additional sensors for more detailed vital-sign monitoring.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Response Integration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 the system with alarms and emergency services for faster response.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B9444B-4A89-DC2E-741B-BA06AC42B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24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31189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EF6EC2-FAA5-09C5-9129-068BD4B77A47}"/>
              </a:ext>
            </a:extLst>
          </p:cNvPr>
          <p:cNvSpPr txBox="1"/>
          <p:nvPr/>
        </p:nvSpPr>
        <p:spPr>
          <a:xfrm>
            <a:off x="259773" y="166256"/>
            <a:ext cx="56838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137EB4-E914-6C20-6EB3-21C0251E7F8B}"/>
              </a:ext>
            </a:extLst>
          </p:cNvPr>
          <p:cNvSpPr txBox="1"/>
          <p:nvPr/>
        </p:nvSpPr>
        <p:spPr>
          <a:xfrm>
            <a:off x="334297" y="845574"/>
            <a:ext cx="11336593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ReSHM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IoT, embedded systems, and cloud technology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monitoring.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continuously collects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and health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multiple sensors.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monitoring through a web dashboard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by providing early detection of hazardous conditions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scalable, reliable, and suitable for industrial and safety applications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782206-23B0-F96B-077B-8B9744F3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25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92858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E301AA-3FA3-05EB-4F17-D9FFE5D5B68A}"/>
              </a:ext>
            </a:extLst>
          </p:cNvPr>
          <p:cNvSpPr txBox="1"/>
          <p:nvPr/>
        </p:nvSpPr>
        <p:spPr>
          <a:xfrm>
            <a:off x="1454728" y="2298601"/>
            <a:ext cx="95284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2E916E-03B9-FE5B-3747-AB4E9E249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26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41824891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Frosty</Template>
  <TotalTime>271</TotalTime>
  <Words>1904</Words>
  <Application>Microsoft Office PowerPoint</Application>
  <PresentationFormat>Widescreen</PresentationFormat>
  <Paragraphs>190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Avenir Next LT Pro</vt:lpstr>
      <vt:lpstr>Calibri</vt:lpstr>
      <vt:lpstr>Goudy Old Style</vt:lpstr>
      <vt:lpstr>Times New Roman</vt:lpstr>
      <vt:lpstr>Wingdings</vt:lpstr>
      <vt:lpstr>FrostyVTI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Sonapayoja Sahu</dc:creator>
  <cp:lastModifiedBy>Swastik Sidharth Rath</cp:lastModifiedBy>
  <cp:revision>3</cp:revision>
  <dcterms:created xsi:type="dcterms:W3CDTF">2026-03-16T10:11:25Z</dcterms:created>
  <dcterms:modified xsi:type="dcterms:W3CDTF">2026-03-17T05:29:06Z</dcterms:modified>
</cp:coreProperties>
</file>